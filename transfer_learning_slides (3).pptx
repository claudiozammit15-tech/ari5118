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TcHELa9Twoj61ThK2xFchmTXm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51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-91440" y="1463040"/>
            <a:ext cx="9326880" cy="2286000"/>
          </a:xfrm>
          <a:prstGeom prst="rect">
            <a:avLst/>
          </a:prstGeom>
          <a:solidFill>
            <a:srgbClr val="1B2240"/>
          </a:solidFill>
          <a:ln cap="flat" cmpd="sng" w="12700">
            <a:solidFill>
              <a:srgbClr val="1B22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Transfer Learning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109728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and Fine-Tuning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18745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Frozen Extraction · End-to-End · Gradual Unfreezing · Discriminative LRs · Domain Shift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200400" y="4023360"/>
            <a:ext cx="2743200" cy="54864"/>
          </a:xfrm>
          <a:prstGeom prst="rect">
            <a:avLst/>
          </a:prstGeom>
          <a:solidFill>
            <a:srgbClr val="FF7043"/>
          </a:solidFill>
          <a:ln cap="flat" cmpd="sng" w="1270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Computer Vision · Deep Learning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E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E77"/>
                </a:solidFill>
                <a:latin typeface="Calibri"/>
                <a:ea typeface="Calibri"/>
                <a:cs typeface="Calibri"/>
                <a:sym typeface="Calibri"/>
              </a:rPr>
              <a:t>1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51C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4FC3F7">
              <a:alpha val="30196"/>
            </a:srgbClr>
          </a:solidFill>
          <a:ln cap="flat" cmpd="sng" w="12700">
            <a:solidFill>
              <a:srgbClr val="4FC3F7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457200" y="9601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 need to classify chest X-rays for pneumonia.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 have 2,000 labelled images.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65760" y="1828800"/>
            <a:ext cx="3840480" cy="2377440"/>
          </a:xfrm>
          <a:prstGeom prst="rect">
            <a:avLst/>
          </a:prstGeom>
          <a:solidFill>
            <a:srgbClr val="232840"/>
          </a:solidFill>
          <a:ln cap="flat" cmpd="sng" w="1905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57200" y="19202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043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7043"/>
                </a:solidFill>
                <a:latin typeface="Calibri"/>
                <a:ea typeface="Calibri"/>
                <a:cs typeface="Calibri"/>
                <a:sym typeface="Calibri"/>
              </a:rPr>
              <a:t>Train from scratch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02920" y="2377440"/>
            <a:ext cx="35661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Needs ~1.28 M labelled images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Three days on 8 GPUs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7043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FF7043"/>
                </a:solidFill>
                <a:latin typeface="Calibri"/>
                <a:ea typeface="Calibri"/>
                <a:cs typeface="Calibri"/>
                <a:sym typeface="Calibri"/>
              </a:rPr>
              <a:t>Will not work with 2,000 examples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937760" y="1828800"/>
            <a:ext cx="3840480" cy="2377440"/>
          </a:xfrm>
          <a:prstGeom prst="rect">
            <a:avLst/>
          </a:prstGeom>
          <a:solidFill>
            <a:srgbClr val="232840"/>
          </a:solidFill>
          <a:ln cap="flat" cmpd="sng" w="1905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5029200" y="19202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BB6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66BB6A"/>
                </a:solidFill>
                <a:latin typeface="Calibri"/>
                <a:ea typeface="Calibri"/>
                <a:cs typeface="Calibri"/>
                <a:sym typeface="Calibri"/>
              </a:rPr>
              <a:t>Transfer learning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074920" y="2377440"/>
            <a:ext cx="35661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Start from a pretrained network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Adapt to your task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6BB6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66BB6A"/>
                </a:solidFill>
                <a:latin typeface="Calibri"/>
                <a:ea typeface="Calibri"/>
                <a:cs typeface="Calibri"/>
                <a:sym typeface="Calibri"/>
              </a:rPr>
              <a:t>Minutes on a laptop CPU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~1,000× reduction in both data and compute, with no loss in quality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E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E77"/>
                </a:solidFill>
                <a:latin typeface="Calibri"/>
                <a:ea typeface="Calibri"/>
                <a:cs typeface="Calibri"/>
                <a:sym typeface="Calibri"/>
              </a:rPr>
              <a:t>2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51C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Analogy: Learning a New Language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4FC3F7">
              <a:alpha val="30196"/>
            </a:srgbClr>
          </a:solidFill>
          <a:ln cap="flat" cmpd="sng" w="12700">
            <a:solidFill>
              <a:srgbClr val="4FC3F7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457200" y="1097280"/>
            <a:ext cx="1920240" cy="256032"/>
          </a:xfrm>
          <a:prstGeom prst="rect">
            <a:avLst/>
          </a:prstGeom>
          <a:solidFill>
            <a:srgbClr val="66BB6A"/>
          </a:solidFill>
          <a:ln cap="flat" cmpd="sng" w="1270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2377440" y="1097280"/>
            <a:ext cx="1920240" cy="256032"/>
          </a:xfrm>
          <a:prstGeom prst="rect">
            <a:avLst/>
          </a:prstGeom>
          <a:solidFill>
            <a:srgbClr val="9CCC65"/>
          </a:solidFill>
          <a:ln cap="flat" cmpd="sng" w="12700">
            <a:solidFill>
              <a:srgbClr val="9CCC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4297680" y="1097280"/>
            <a:ext cx="1920240" cy="256032"/>
          </a:xfrm>
          <a:prstGeom prst="rect">
            <a:avLst/>
          </a:prstGeom>
          <a:solidFill>
            <a:srgbClr val="D4E157"/>
          </a:solidFill>
          <a:ln cap="flat" cmpd="sng" w="12700">
            <a:solidFill>
              <a:srgbClr val="D4E1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6217920" y="1097280"/>
            <a:ext cx="960120" cy="256032"/>
          </a:xfrm>
          <a:prstGeom prst="rect">
            <a:avLst/>
          </a:prstGeom>
          <a:solidFill>
            <a:srgbClr val="FFCA28"/>
          </a:solidFill>
          <a:ln cap="flat" cmpd="sng" w="12700">
            <a:solidFill>
              <a:srgbClr val="FFCA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7178040" y="1097280"/>
            <a:ext cx="960120" cy="256032"/>
          </a:xfrm>
          <a:prstGeom prst="rect">
            <a:avLst/>
          </a:prstGeom>
          <a:solidFill>
            <a:srgbClr val="FFA726"/>
          </a:solidFill>
          <a:ln cap="flat" cmpd="sng" w="12700">
            <a:solidFill>
              <a:srgbClr val="FFA7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8138160" y="1097280"/>
            <a:ext cx="548640" cy="256032"/>
          </a:xfrm>
          <a:prstGeom prst="rect">
            <a:avLst/>
          </a:prstGeom>
          <a:solidFill>
            <a:srgbClr val="FF7043"/>
          </a:solidFill>
          <a:ln cap="flat" cmpd="sng" w="1270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457200" y="91440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BB6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BB6A"/>
                </a:solidFill>
                <a:latin typeface="Calibri"/>
                <a:ea typeface="Calibri"/>
                <a:cs typeface="Calibri"/>
                <a:sym typeface="Calibri"/>
              </a:rPr>
              <a:t>Easy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858000" y="91440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704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7043"/>
                </a:solidFill>
                <a:latin typeface="Calibri"/>
                <a:ea typeface="Calibri"/>
                <a:cs typeface="Calibri"/>
                <a:sym typeface="Calibri"/>
              </a:rPr>
              <a:t>Very hard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1234440" y="1161288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457200" y="141732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Italian 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Spanish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57200" y="19202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Cognates,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similar grammar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520440" y="1161288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2743200" y="141732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Italian 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French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2743200" y="19202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Shared roots,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different sound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806440" y="1161288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5029200" y="141732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Italian 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Maltese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029200" y="19202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Latin script,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Semitic roots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7635240" y="1161288"/>
            <a:ext cx="128016" cy="12801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6858000" y="141732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Italian 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Mandarin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858000" y="19202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Different writing,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tones, grammar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57200" y="2423160"/>
            <a:ext cx="8229600" cy="1645920"/>
          </a:xfrm>
          <a:prstGeom prst="rect">
            <a:avLst/>
          </a:prstGeom>
          <a:solidFill>
            <a:srgbClr val="232840"/>
          </a:solidFill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640080" y="251460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The same gradient governs transfer learning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731520" y="2926080"/>
            <a:ext cx="77724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Closer source ↔ target  =  more reusable knowledge  =  less fine-tuning needed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Further apart  =  more layers need retraining  =  more data required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Domain similarity is one of the two key axes in the strategy decision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E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E77"/>
                </a:solidFill>
                <a:latin typeface="Calibri"/>
                <a:ea typeface="Calibri"/>
                <a:cs typeface="Calibri"/>
                <a:sym typeface="Calibri"/>
              </a:rPr>
              <a:t>3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51C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What Each Layer Learns(Compute</a:t>
            </a:r>
            <a:r>
              <a:rPr b="1" lang="en-US" sz="3000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r Vision Example)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4FC3F7">
              <a:alpha val="30196"/>
            </a:srgbClr>
          </a:solidFill>
          <a:ln cap="flat" cmpd="sng" w="12700">
            <a:solidFill>
              <a:srgbClr val="4FC3F7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11480" y="960120"/>
            <a:ext cx="1508760" cy="2651760"/>
          </a:xfrm>
          <a:prstGeom prst="rect">
            <a:avLst/>
          </a:prstGeom>
          <a:solidFill>
            <a:srgbClr val="232840"/>
          </a:solidFill>
          <a:ln cap="flat" cmpd="sng" w="2540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411480" y="960120"/>
            <a:ext cx="1508760" cy="292608"/>
          </a:xfrm>
          <a:prstGeom prst="rect">
            <a:avLst/>
          </a:prstGeom>
          <a:solidFill>
            <a:srgbClr val="66BB6A">
              <a:alpha val="70196"/>
            </a:srgbClr>
          </a:solidFill>
          <a:ln cap="flat" cmpd="sng" w="12700">
            <a:solidFill>
              <a:srgbClr val="66BB6A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57200" y="100584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BB6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6BB6A"/>
                </a:solidFill>
                <a:latin typeface="Calibri"/>
                <a:ea typeface="Calibri"/>
                <a:cs typeface="Calibri"/>
                <a:sym typeface="Calibri"/>
              </a:rPr>
              <a:t>Layer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84632" y="1325880"/>
            <a:ext cx="136245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Colour blobs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Gabor filters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02920" y="324612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BB6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6BB6A"/>
                </a:solidFill>
                <a:latin typeface="Calibri"/>
                <a:ea typeface="Calibri"/>
                <a:cs typeface="Calibri"/>
                <a:sym typeface="Calibri"/>
              </a:rPr>
              <a:t>Universal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2057400" y="960120"/>
            <a:ext cx="1508760" cy="2651760"/>
          </a:xfrm>
          <a:prstGeom prst="rect">
            <a:avLst/>
          </a:prstGeom>
          <a:solidFill>
            <a:srgbClr val="232840"/>
          </a:solidFill>
          <a:ln cap="flat" cmpd="sng" w="25400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2057400" y="960120"/>
            <a:ext cx="1508760" cy="292608"/>
          </a:xfrm>
          <a:prstGeom prst="rect">
            <a:avLst/>
          </a:prstGeom>
          <a:solidFill>
            <a:srgbClr val="A5D6A7">
              <a:alpha val="70196"/>
            </a:srgbClr>
          </a:solidFill>
          <a:ln cap="flat" cmpd="sng" w="12700">
            <a:solidFill>
              <a:srgbClr val="A5D6A7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2103120" y="100584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Layer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130552" y="1325880"/>
            <a:ext cx="136245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Textures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Patterns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Fur / fabric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2148840" y="324612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General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3703320" y="960120"/>
            <a:ext cx="1508760" cy="2651760"/>
          </a:xfrm>
          <a:prstGeom prst="rect">
            <a:avLst/>
          </a:prstGeom>
          <a:solidFill>
            <a:srgbClr val="232840"/>
          </a:solidFill>
          <a:ln cap="flat" cmpd="sng" w="25400">
            <a:solidFill>
              <a:srgbClr val="FFD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3703320" y="960120"/>
            <a:ext cx="1508760" cy="292608"/>
          </a:xfrm>
          <a:prstGeom prst="rect">
            <a:avLst/>
          </a:prstGeom>
          <a:solidFill>
            <a:srgbClr val="FFD54F">
              <a:alpha val="70196"/>
            </a:srgbClr>
          </a:solidFill>
          <a:ln cap="flat" cmpd="sng" w="12700">
            <a:solidFill>
              <a:srgbClr val="FFD54F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3749040" y="100584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D54F"/>
                </a:solidFill>
                <a:latin typeface="Calibri"/>
                <a:ea typeface="Calibri"/>
                <a:cs typeface="Calibri"/>
                <a:sym typeface="Calibri"/>
              </a:rPr>
              <a:t>Layer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776472" y="1325880"/>
            <a:ext cx="136245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Object parts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Eyes / wheels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Faces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794760" y="324612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D54F"/>
                </a:solidFill>
                <a:latin typeface="Calibri"/>
                <a:ea typeface="Calibri"/>
                <a:cs typeface="Calibri"/>
                <a:sym typeface="Calibri"/>
              </a:rPr>
              <a:t>Mixed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349240" y="960120"/>
            <a:ext cx="1508760" cy="2651760"/>
          </a:xfrm>
          <a:prstGeom prst="rect">
            <a:avLst/>
          </a:prstGeom>
          <a:solidFill>
            <a:srgbClr val="232840"/>
          </a:solidFill>
          <a:ln cap="flat" cmpd="sng" w="25400">
            <a:solidFill>
              <a:srgbClr val="FFB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5349240" y="960120"/>
            <a:ext cx="1508760" cy="292608"/>
          </a:xfrm>
          <a:prstGeom prst="rect">
            <a:avLst/>
          </a:prstGeom>
          <a:solidFill>
            <a:srgbClr val="FFB74D">
              <a:alpha val="70196"/>
            </a:srgbClr>
          </a:solidFill>
          <a:ln cap="flat" cmpd="sng" w="12700">
            <a:solidFill>
              <a:srgbClr val="FFB74D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5394960" y="100584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B74D"/>
                </a:solidFill>
                <a:latin typeface="Calibri"/>
                <a:ea typeface="Calibri"/>
                <a:cs typeface="Calibri"/>
                <a:sym typeface="Calibri"/>
              </a:rPr>
              <a:t>Layer 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422392" y="1325880"/>
            <a:ext cx="136245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Compositions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"Cat-shape"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"Car-shape"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440680" y="324612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74D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B74D"/>
                </a:solidFill>
                <a:latin typeface="Calibri"/>
                <a:ea typeface="Calibri"/>
                <a:cs typeface="Calibri"/>
                <a:sym typeface="Calibri"/>
              </a:rPr>
              <a:t>Specific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995160" y="960120"/>
            <a:ext cx="1508760" cy="2651760"/>
          </a:xfrm>
          <a:prstGeom prst="rect">
            <a:avLst/>
          </a:prstGeom>
          <a:solidFill>
            <a:srgbClr val="232840"/>
          </a:solidFill>
          <a:ln cap="flat" cmpd="sng" w="2540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6995160" y="960120"/>
            <a:ext cx="1508760" cy="292608"/>
          </a:xfrm>
          <a:prstGeom prst="rect">
            <a:avLst/>
          </a:prstGeom>
          <a:solidFill>
            <a:srgbClr val="FF7043">
              <a:alpha val="70196"/>
            </a:srgbClr>
          </a:solidFill>
          <a:ln cap="flat" cmpd="sng" w="12700">
            <a:solidFill>
              <a:srgbClr val="FF7043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7040880" y="1005840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04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7043"/>
                </a:solidFill>
                <a:latin typeface="Calibri"/>
                <a:ea typeface="Calibri"/>
                <a:cs typeface="Calibri"/>
                <a:sym typeface="Calibri"/>
              </a:rPr>
              <a:t>Head (fc)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7068312" y="1325880"/>
            <a:ext cx="136245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Class scores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"This is 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Labrador"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7086600" y="324612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04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FF7043"/>
                </a:solidFill>
                <a:latin typeface="Calibri"/>
                <a:ea typeface="Calibri"/>
                <a:cs typeface="Calibri"/>
                <a:sym typeface="Calibri"/>
              </a:rPr>
              <a:t>Task-tied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11480" y="37490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BB6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6BB6A"/>
                </a:solidFill>
                <a:latin typeface="Calibri"/>
                <a:ea typeface="Calibri"/>
                <a:cs typeface="Calibri"/>
                <a:sym typeface="Calibri"/>
              </a:rPr>
              <a:t>General  ·  Reusable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4"/>
          <p:cNvCxnSpPr/>
          <p:nvPr/>
        </p:nvCxnSpPr>
        <p:spPr>
          <a:xfrm>
            <a:off x="411480" y="4023360"/>
            <a:ext cx="8321040" cy="0"/>
          </a:xfrm>
          <a:prstGeom prst="straightConnector1">
            <a:avLst/>
          </a:prstGeom>
          <a:noFill/>
          <a:ln cap="flat" cmpd="sng" w="12700">
            <a:solidFill>
              <a:srgbClr val="8892A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04" name="Google Shape;104;p4"/>
          <p:cNvSpPr/>
          <p:nvPr/>
        </p:nvSpPr>
        <p:spPr>
          <a:xfrm>
            <a:off x="6080760" y="37490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704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7043"/>
                </a:solidFill>
                <a:latin typeface="Calibri"/>
                <a:ea typeface="Calibri"/>
                <a:cs typeface="Calibri"/>
                <a:sym typeface="Calibri"/>
              </a:rPr>
              <a:t>Specific  ·  Task-tied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This hierarchy is emergent — not designed. Caused by receptive field growth + backprop gradient distribution.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E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E77"/>
                </a:solidFill>
                <a:latin typeface="Calibri"/>
                <a:ea typeface="Calibri"/>
                <a:cs typeface="Calibri"/>
                <a:sym typeface="Calibri"/>
              </a:rPr>
              <a:t>Yosinski et al. (2014)  ·  Zeiler &amp; Fergus (2014)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E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E77"/>
                </a:solidFill>
                <a:latin typeface="Calibri"/>
                <a:ea typeface="Calibri"/>
                <a:cs typeface="Calibri"/>
                <a:sym typeface="Calibri"/>
              </a:rPr>
              <a:t>4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51C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Technique 1: Frozen Feature Extraction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4FC3F7">
              <a:alpha val="30196"/>
            </a:srgbClr>
          </a:solidFill>
          <a:ln cap="flat" cmpd="sng" w="12700">
            <a:solidFill>
              <a:srgbClr val="4FC3F7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457200" y="1005840"/>
            <a:ext cx="3840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500"/>
              <a:buFont typeface="Calibri"/>
              <a:buChar char="-"/>
            </a:pPr>
            <a:r>
              <a:rPr b="0" i="0" lang="en-US" sz="15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Backbone weights are fixed.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500"/>
              <a:buFont typeface="Calibri"/>
              <a:buChar char="-"/>
            </a:pPr>
            <a:r>
              <a:rPr b="0" i="0" lang="en-US" sz="15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Only the new head trains.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A linear classifier on top of pretrained features.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572000" y="1005840"/>
            <a:ext cx="685800" cy="3474720"/>
          </a:xfrm>
          <a:prstGeom prst="rect">
            <a:avLst/>
          </a:prstGeom>
          <a:solidFill>
            <a:srgbClr val="3A4258"/>
          </a:solidFill>
          <a:ln cap="flat" cmpd="sng" w="12700">
            <a:solidFill>
              <a:srgbClr val="8892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4572000" y="2560320"/>
            <a:ext cx="685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4572000" y="1143000"/>
            <a:ext cx="685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440680" y="1005840"/>
            <a:ext cx="685800" cy="3474720"/>
          </a:xfrm>
          <a:prstGeom prst="rect">
            <a:avLst/>
          </a:prstGeom>
          <a:solidFill>
            <a:srgbClr val="3A4258"/>
          </a:solidFill>
          <a:ln cap="flat" cmpd="sng" w="12700">
            <a:solidFill>
              <a:srgbClr val="8892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5440680" y="2560320"/>
            <a:ext cx="685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440680" y="1143000"/>
            <a:ext cx="685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309360" y="1005840"/>
            <a:ext cx="685800" cy="3474720"/>
          </a:xfrm>
          <a:prstGeom prst="rect">
            <a:avLst/>
          </a:prstGeom>
          <a:solidFill>
            <a:srgbClr val="3A4258"/>
          </a:solidFill>
          <a:ln cap="flat" cmpd="sng" w="12700">
            <a:solidFill>
              <a:srgbClr val="8892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6309360" y="2560320"/>
            <a:ext cx="685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6309360" y="1143000"/>
            <a:ext cx="685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7178040" y="1005840"/>
            <a:ext cx="685800" cy="3474720"/>
          </a:xfrm>
          <a:prstGeom prst="rect">
            <a:avLst/>
          </a:prstGeom>
          <a:solidFill>
            <a:srgbClr val="3A4258"/>
          </a:solidFill>
          <a:ln cap="flat" cmpd="sng" w="12700">
            <a:solidFill>
              <a:srgbClr val="8892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7178040" y="2560320"/>
            <a:ext cx="685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7178040" y="1143000"/>
            <a:ext cx="685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8046720" y="1005840"/>
            <a:ext cx="822960" cy="3474720"/>
          </a:xfrm>
          <a:prstGeom prst="rect">
            <a:avLst/>
          </a:prstGeom>
          <a:solidFill>
            <a:srgbClr val="FF7043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8046720" y="256032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8046720" y="114300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572000" y="45720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Backbone — frozen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8046720" y="45720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04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7043"/>
                </a:solidFill>
                <a:latin typeface="Calibri"/>
                <a:ea typeface="Calibri"/>
                <a:cs typeface="Calibri"/>
                <a:sym typeface="Calibri"/>
              </a:rPr>
              <a:t>Trains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E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E77"/>
                </a:solidFill>
                <a:latin typeface="Calibri"/>
                <a:ea typeface="Calibri"/>
                <a:cs typeface="Calibri"/>
                <a:sym typeface="Calibri"/>
              </a:rPr>
              <a:t>6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51C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Technique 2: End-to-End Fine-Tuning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4FC3F7">
              <a:alpha val="30196"/>
            </a:srgbClr>
          </a:solidFill>
          <a:ln cap="flat" cmpd="sng" w="12700">
            <a:solidFill>
              <a:srgbClr val="4FC3F7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457200" y="100584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400"/>
              <a:buFont typeface="Calibri"/>
              <a:buChar char="-"/>
            </a:pPr>
            <a:r>
              <a:rPr b="0" i="0" lang="en-US" sz="14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Unfreeze every </a:t>
            </a:r>
            <a:r>
              <a:rPr lang="en-US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layer</a:t>
            </a:r>
            <a:r>
              <a:rPr b="0" i="0" lang="en-US" sz="14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D8DC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400"/>
              <a:buFont typeface="Calibri"/>
              <a:buChar char="-"/>
            </a:pPr>
            <a:r>
              <a:rPr b="0" i="0" lang="en-US" sz="14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Train everything with a learning rate 10–100× lower than from-scratch training.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400"/>
              <a:buFont typeface="Calibri"/>
              <a:buChar char="-"/>
            </a:pPr>
            <a:r>
              <a:rPr b="0" i="0" lang="en-US" sz="14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Pretrained weights are nudged, not overwritten (hopeful</a:t>
            </a:r>
            <a:r>
              <a:rPr lang="en-US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ly)</a:t>
            </a:r>
            <a:r>
              <a:rPr b="0" i="0" lang="en-US" sz="14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57200" y="2286000"/>
            <a:ext cx="3931920" cy="1920240"/>
          </a:xfrm>
          <a:prstGeom prst="rect">
            <a:avLst/>
          </a:prstGeom>
          <a:solidFill>
            <a:srgbClr val="232840"/>
          </a:solidFill>
          <a:ln cap="flat" cmpd="sng" w="1905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594360" y="23774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04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7043"/>
                </a:solidFill>
                <a:latin typeface="Calibri"/>
                <a:ea typeface="Calibri"/>
                <a:cs typeface="Calibri"/>
                <a:sym typeface="Calibri"/>
              </a:rPr>
              <a:t>Catastrophic forgetting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594360" y="2788920"/>
            <a:ext cx="3657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A high LR overwrites pretrained weights in the first few batches before the head has stabilised. The pretraining advantage is lost before it can be used.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663440" y="1005840"/>
            <a:ext cx="749808" cy="3200400"/>
          </a:xfrm>
          <a:prstGeom prst="rect">
            <a:avLst/>
          </a:prstGeom>
          <a:solidFill>
            <a:srgbClr val="0D47A1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4663440" y="2468880"/>
            <a:ext cx="7498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663440" y="1143000"/>
            <a:ext cx="7498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663440" y="4279392"/>
            <a:ext cx="749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1e-5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468112" y="1005840"/>
            <a:ext cx="749808" cy="32004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5468112" y="2468880"/>
            <a:ext cx="7498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5468112" y="1143000"/>
            <a:ext cx="7498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5468112" y="4279392"/>
            <a:ext cx="749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1e-5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6272784" y="1005840"/>
            <a:ext cx="749808" cy="3200400"/>
          </a:xfrm>
          <a:prstGeom prst="rect">
            <a:avLst/>
          </a:prstGeom>
          <a:solidFill>
            <a:srgbClr val="1976D2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6272784" y="2468880"/>
            <a:ext cx="7498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6272784" y="1143000"/>
            <a:ext cx="7498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6272784" y="4279392"/>
            <a:ext cx="749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1e-4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7077456" y="1005840"/>
            <a:ext cx="749808" cy="3200400"/>
          </a:xfrm>
          <a:prstGeom prst="rect">
            <a:avLst/>
          </a:prstGeom>
          <a:solidFill>
            <a:srgbClr val="42A5F5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7077456" y="2468880"/>
            <a:ext cx="7498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7077456" y="1143000"/>
            <a:ext cx="7498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7077456" y="4279392"/>
            <a:ext cx="749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1e-4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7882128" y="1005840"/>
            <a:ext cx="749808" cy="3200400"/>
          </a:xfrm>
          <a:prstGeom prst="rect">
            <a:avLst/>
          </a:prstGeom>
          <a:solidFill>
            <a:srgbClr val="FF7043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7882128" y="2468880"/>
            <a:ext cx="7498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7882128" y="1143000"/>
            <a:ext cx="7498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7882128" y="4279392"/>
            <a:ext cx="7498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04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7043"/>
                </a:solidFill>
                <a:latin typeface="Calibri"/>
                <a:ea typeface="Calibri"/>
                <a:cs typeface="Calibri"/>
                <a:sym typeface="Calibri"/>
              </a:rPr>
              <a:t>1e-3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5521240" y="4553768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← gradient flows backward through all layers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E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E77"/>
                </a:solidFill>
                <a:latin typeface="Calibri"/>
                <a:ea typeface="Calibri"/>
                <a:cs typeface="Calibri"/>
                <a:sym typeface="Calibri"/>
              </a:rPr>
              <a:t>7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51C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The Subtle Failure: LP-FT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4FC3F7">
              <a:alpha val="30196"/>
            </a:srgbClr>
          </a:solidFill>
          <a:ln cap="flat" cmpd="sng" w="12700">
            <a:solidFill>
              <a:srgbClr val="4FC3F7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Kumar et al. (2022): full fine-tuning improves in-distribution accuracy but often hurts out-of-distribution accuracy.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365760" y="1737360"/>
            <a:ext cx="3840480" cy="2560320"/>
          </a:xfrm>
          <a:prstGeom prst="rect">
            <a:avLst/>
          </a:prstGeom>
          <a:solidFill>
            <a:srgbClr val="232840"/>
          </a:solidFill>
          <a:ln cap="flat" cmpd="sng" w="1905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502920" y="18288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04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7043"/>
                </a:solidFill>
                <a:latin typeface="Calibri"/>
                <a:ea typeface="Calibri"/>
                <a:cs typeface="Calibri"/>
                <a:sym typeface="Calibri"/>
              </a:rPr>
              <a:t>Naive fine-tuning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502920" y="221284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Random head + backbone train together from step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502920" y="265176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Random head sends chaotic gradients → backbone features get distorted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502920" y="33375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043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7043"/>
                </a:solidFill>
                <a:latin typeface="Calibri"/>
                <a:ea typeface="Calibri"/>
                <a:cs typeface="Calibri"/>
                <a:sym typeface="Calibri"/>
              </a:rPr>
              <a:t>−7% OOD accuracy on average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10"/>
          <p:cNvCxnSpPr/>
          <p:nvPr/>
        </p:nvCxnSpPr>
        <p:spPr>
          <a:xfrm>
            <a:off x="4343400" y="301752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8892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10"/>
          <p:cNvSpPr/>
          <p:nvPr/>
        </p:nvSpPr>
        <p:spPr>
          <a:xfrm>
            <a:off x="4315975" y="2834650"/>
            <a:ext cx="512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fix 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4937760" y="1737360"/>
            <a:ext cx="3840480" cy="2560320"/>
          </a:xfrm>
          <a:prstGeom prst="rect">
            <a:avLst/>
          </a:prstGeom>
          <a:solidFill>
            <a:srgbClr val="232840"/>
          </a:solidFill>
          <a:ln cap="flat" cmpd="sng" w="1905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5074920" y="18288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BB6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66BB6A"/>
                </a:solidFill>
                <a:latin typeface="Calibri"/>
                <a:ea typeface="Calibri"/>
                <a:cs typeface="Calibri"/>
                <a:sym typeface="Calibri"/>
              </a:rPr>
              <a:t>LP-FT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5074920" y="221284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Stage 1: head only  ·  Stage 2: everything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5074920" y="265176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Stable head produces coherent gradients → backbone adapts gracefully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5074920" y="33375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BB6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6BB6A"/>
                </a:solidFill>
                <a:latin typeface="Calibri"/>
                <a:ea typeface="Calibri"/>
                <a:cs typeface="Calibri"/>
                <a:sym typeface="Calibri"/>
              </a:rPr>
              <a:t>Recovers OOD without losing ID accuracy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E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E77"/>
                </a:solidFill>
                <a:latin typeface="Calibri"/>
                <a:ea typeface="Calibri"/>
                <a:cs typeface="Calibri"/>
                <a:sym typeface="Calibri"/>
              </a:rPr>
              <a:t>Kumar et al. (2022) — Fine-tuning can distort pretrained features and underperform from scratch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E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E77"/>
                </a:solidFill>
                <a:latin typeface="Calibri"/>
                <a:ea typeface="Calibri"/>
                <a:cs typeface="Calibri"/>
                <a:sym typeface="Calibri"/>
              </a:rPr>
              <a:t>10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51C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Technique 3: Gradual Unfreezing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4FC3F7">
              <a:alpha val="30196"/>
            </a:srgbClr>
          </a:solidFill>
          <a:ln cap="flat" cmpd="sng" w="12700">
            <a:solidFill>
              <a:srgbClr val="4FC3F7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457200" y="1005850"/>
            <a:ext cx="2578500" cy="29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400"/>
              <a:buFont typeface="Calibri"/>
              <a:buChar char="-"/>
            </a:pPr>
            <a:r>
              <a:rPr b="0" i="0" lang="en-US" sz="14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Start with only the head trainable. </a:t>
            </a:r>
            <a:endParaRPr b="0" i="0" sz="1400" u="none" cap="none" strike="noStrike">
              <a:solidFill>
                <a:srgbClr val="D8DC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rgbClr val="D8DC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400"/>
              <a:buFont typeface="Calibri"/>
              <a:buChar char="-"/>
            </a:pPr>
            <a:r>
              <a:rPr b="0" i="0" lang="en-US" sz="14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Unfreeze one more layer each stage, working backward from output to input. </a:t>
            </a:r>
            <a:endParaRPr b="0" i="0" sz="1400" u="none" cap="none" strike="noStrike">
              <a:solidFill>
                <a:srgbClr val="D8DC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rgbClr val="D8DC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400"/>
              <a:buFont typeface="Calibri"/>
              <a:buChar char="-"/>
            </a:pPr>
            <a:r>
              <a:rPr b="0" i="0" lang="en-US" sz="14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Each layer enters a stable environment.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3611880" y="91440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Stage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4389120" y="914400"/>
            <a:ext cx="475488" cy="411480"/>
          </a:xfrm>
          <a:prstGeom prst="rect">
            <a:avLst/>
          </a:prstGeom>
          <a:solidFill>
            <a:srgbClr val="3A4258"/>
          </a:solidFill>
          <a:ln cap="flat" cmpd="sng" w="9525">
            <a:solidFill>
              <a:srgbClr val="8892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4389120" y="914400"/>
            <a:ext cx="4754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919472" y="914400"/>
            <a:ext cx="475488" cy="411480"/>
          </a:xfrm>
          <a:prstGeom prst="rect">
            <a:avLst/>
          </a:prstGeom>
          <a:solidFill>
            <a:srgbClr val="3A4258"/>
          </a:solidFill>
          <a:ln cap="flat" cmpd="sng" w="9525">
            <a:solidFill>
              <a:srgbClr val="8892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4919472" y="914400"/>
            <a:ext cx="4754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449824" y="914400"/>
            <a:ext cx="475488" cy="411480"/>
          </a:xfrm>
          <a:prstGeom prst="rect">
            <a:avLst/>
          </a:prstGeom>
          <a:solidFill>
            <a:srgbClr val="3A4258"/>
          </a:solidFill>
          <a:ln cap="flat" cmpd="sng" w="9525">
            <a:solidFill>
              <a:srgbClr val="8892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5449824" y="914400"/>
            <a:ext cx="4754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5980176" y="914400"/>
            <a:ext cx="475488" cy="411480"/>
          </a:xfrm>
          <a:prstGeom prst="rect">
            <a:avLst/>
          </a:prstGeom>
          <a:solidFill>
            <a:srgbClr val="3A4258"/>
          </a:solidFill>
          <a:ln cap="flat" cmpd="sng" w="9525">
            <a:solidFill>
              <a:srgbClr val="8892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5980176" y="914400"/>
            <a:ext cx="4754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6510528" y="914400"/>
            <a:ext cx="475488" cy="411480"/>
          </a:xfrm>
          <a:prstGeom prst="rect">
            <a:avLst/>
          </a:prstGeom>
          <a:solidFill>
            <a:srgbClr val="FF704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6510528" y="914400"/>
            <a:ext cx="4754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3611880" y="150876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Stage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389120" y="1508760"/>
            <a:ext cx="475488" cy="411480"/>
          </a:xfrm>
          <a:prstGeom prst="rect">
            <a:avLst/>
          </a:prstGeom>
          <a:solidFill>
            <a:srgbClr val="3A4258"/>
          </a:solidFill>
          <a:ln cap="flat" cmpd="sng" w="9525">
            <a:solidFill>
              <a:srgbClr val="8892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4389120" y="1508760"/>
            <a:ext cx="4754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4919472" y="1508760"/>
            <a:ext cx="475488" cy="411480"/>
          </a:xfrm>
          <a:prstGeom prst="rect">
            <a:avLst/>
          </a:prstGeom>
          <a:solidFill>
            <a:srgbClr val="3A4258"/>
          </a:solidFill>
          <a:ln cap="flat" cmpd="sng" w="9525">
            <a:solidFill>
              <a:srgbClr val="8892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4919472" y="1508760"/>
            <a:ext cx="4754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5449824" y="1508760"/>
            <a:ext cx="475488" cy="411480"/>
          </a:xfrm>
          <a:prstGeom prst="rect">
            <a:avLst/>
          </a:prstGeom>
          <a:solidFill>
            <a:srgbClr val="3A4258"/>
          </a:solidFill>
          <a:ln cap="flat" cmpd="sng" w="9525">
            <a:solidFill>
              <a:srgbClr val="8892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5449824" y="1508760"/>
            <a:ext cx="4754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5980176" y="1508760"/>
            <a:ext cx="475488" cy="411480"/>
          </a:xfrm>
          <a:prstGeom prst="rect">
            <a:avLst/>
          </a:prstGeom>
          <a:solidFill>
            <a:srgbClr val="1565C0"/>
          </a:solidFill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5980176" y="1508760"/>
            <a:ext cx="4754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6510528" y="1508760"/>
            <a:ext cx="475488" cy="411480"/>
          </a:xfrm>
          <a:prstGeom prst="rect">
            <a:avLst/>
          </a:prstGeom>
          <a:solidFill>
            <a:srgbClr val="FF704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6510528" y="1508760"/>
            <a:ext cx="4754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3611880" y="210312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Stage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389120" y="2103120"/>
            <a:ext cx="475488" cy="411480"/>
          </a:xfrm>
          <a:prstGeom prst="rect">
            <a:avLst/>
          </a:prstGeom>
          <a:solidFill>
            <a:srgbClr val="3A4258"/>
          </a:solidFill>
          <a:ln cap="flat" cmpd="sng" w="9525">
            <a:solidFill>
              <a:srgbClr val="8892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4389120" y="2103120"/>
            <a:ext cx="4754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4919472" y="2103120"/>
            <a:ext cx="475488" cy="411480"/>
          </a:xfrm>
          <a:prstGeom prst="rect">
            <a:avLst/>
          </a:prstGeom>
          <a:solidFill>
            <a:srgbClr val="3A4258"/>
          </a:solidFill>
          <a:ln cap="flat" cmpd="sng" w="9525">
            <a:solidFill>
              <a:srgbClr val="8892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4919472" y="2103120"/>
            <a:ext cx="4754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5449824" y="2103120"/>
            <a:ext cx="475488" cy="411480"/>
          </a:xfrm>
          <a:prstGeom prst="rect">
            <a:avLst/>
          </a:prstGeom>
          <a:solidFill>
            <a:srgbClr val="1565C0"/>
          </a:solidFill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5449824" y="2103120"/>
            <a:ext cx="4754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5980176" y="2103120"/>
            <a:ext cx="475488" cy="411480"/>
          </a:xfrm>
          <a:prstGeom prst="rect">
            <a:avLst/>
          </a:prstGeom>
          <a:solidFill>
            <a:srgbClr val="1565C0"/>
          </a:solidFill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5980176" y="2103120"/>
            <a:ext cx="4754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6510528" y="2103120"/>
            <a:ext cx="475488" cy="411480"/>
          </a:xfrm>
          <a:prstGeom prst="rect">
            <a:avLst/>
          </a:prstGeom>
          <a:solidFill>
            <a:srgbClr val="FF704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6510528" y="2103120"/>
            <a:ext cx="4754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3611880" y="2697480"/>
            <a:ext cx="731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Stage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389120" y="2697480"/>
            <a:ext cx="475488" cy="411480"/>
          </a:xfrm>
          <a:prstGeom prst="rect">
            <a:avLst/>
          </a:prstGeom>
          <a:solidFill>
            <a:srgbClr val="3A4258"/>
          </a:solidFill>
          <a:ln cap="flat" cmpd="sng" w="9525">
            <a:solidFill>
              <a:srgbClr val="8892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4389120" y="2697480"/>
            <a:ext cx="4754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919472" y="2697480"/>
            <a:ext cx="475488" cy="411480"/>
          </a:xfrm>
          <a:prstGeom prst="rect">
            <a:avLst/>
          </a:prstGeom>
          <a:solidFill>
            <a:srgbClr val="1565C0"/>
          </a:solidFill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4919472" y="2697480"/>
            <a:ext cx="4754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5449824" y="2697480"/>
            <a:ext cx="475488" cy="411480"/>
          </a:xfrm>
          <a:prstGeom prst="rect">
            <a:avLst/>
          </a:prstGeom>
          <a:solidFill>
            <a:srgbClr val="1565C0"/>
          </a:solidFill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5449824" y="2697480"/>
            <a:ext cx="4754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5980176" y="2697480"/>
            <a:ext cx="475488" cy="411480"/>
          </a:xfrm>
          <a:prstGeom prst="rect">
            <a:avLst/>
          </a:prstGeom>
          <a:solidFill>
            <a:srgbClr val="1565C0"/>
          </a:solidFill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5980176" y="2697480"/>
            <a:ext cx="4754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6510528" y="2697480"/>
            <a:ext cx="475488" cy="411480"/>
          </a:xfrm>
          <a:prstGeom prst="rect">
            <a:avLst/>
          </a:prstGeom>
          <a:solidFill>
            <a:srgbClr val="FF704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6510528" y="2697480"/>
            <a:ext cx="4754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4389120" y="33375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→ Direction of unfreezing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4389120" y="3749040"/>
            <a:ext cx="201168" cy="201168"/>
          </a:xfrm>
          <a:prstGeom prst="rect">
            <a:avLst/>
          </a:prstGeom>
          <a:solidFill>
            <a:srgbClr val="3A4258"/>
          </a:solidFill>
          <a:ln cap="flat" cmpd="sng" w="12700">
            <a:solidFill>
              <a:srgbClr val="3A42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4645152" y="374904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Frozen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5934468" y="3771890"/>
            <a:ext cx="201300" cy="2013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6190499" y="3771890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Trainable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7549340" y="3748965"/>
            <a:ext cx="201300" cy="201300"/>
          </a:xfrm>
          <a:prstGeom prst="rect">
            <a:avLst/>
          </a:prstGeom>
          <a:solidFill>
            <a:srgbClr val="FF7043"/>
          </a:solidFill>
          <a:ln cap="flat" cmpd="sng" w="1270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7805372" y="3748965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Head (always 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E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E77"/>
                </a:solidFill>
                <a:latin typeface="Calibri"/>
                <a:ea typeface="Calibri"/>
                <a:cs typeface="Calibri"/>
                <a:sym typeface="Calibri"/>
              </a:rPr>
              <a:t>8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51C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Technique 4: Discriminative Learning Rates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4FC3F7">
              <a:alpha val="30196"/>
            </a:srgbClr>
          </a:solidFill>
          <a:ln cap="flat" cmpd="sng" w="12700">
            <a:solidFill>
              <a:srgbClr val="4FC3F7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457200" y="100584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500"/>
              <a:buFont typeface="Calibri"/>
              <a:buChar char="-"/>
            </a:pPr>
            <a:r>
              <a:rPr b="0" i="0" lang="en-US" sz="15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Every layer trains, but each has its own learning rate.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500"/>
              <a:buFont typeface="Calibri"/>
              <a:buChar char="-"/>
            </a:pPr>
            <a:r>
              <a:rPr b="0" i="0" lang="en-US" sz="15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General layers change least</a:t>
            </a:r>
            <a:r>
              <a:rPr lang="en-US" sz="1500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500">
              <a:solidFill>
                <a:srgbClr val="D8DC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500"/>
              <a:buFont typeface="Calibri"/>
              <a:buChar char="-"/>
            </a:pPr>
            <a:r>
              <a:rPr lang="en-US" sz="1500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15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pecific layers change most.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457200" y="2148840"/>
            <a:ext cx="3931920" cy="822960"/>
          </a:xfrm>
          <a:prstGeom prst="rect">
            <a:avLst/>
          </a:prstGeom>
          <a:solidFill>
            <a:srgbClr val="232840"/>
          </a:solidFill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731520" y="2286000"/>
            <a:ext cx="274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η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987552" y="24688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1188720" y="2286000"/>
            <a:ext cx="640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=  η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1828800" y="246888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2084832" y="22860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/ δ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2560320" y="217627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L−l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594360" y="2743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δ ≈ 2.6 (NLP)  or  10 (CV)   ·   Howard &amp; Ruder (2018)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457200" y="315468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Complementary to gradual unfreezing — not an alternative.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4754880" y="3200400"/>
            <a:ext cx="822960" cy="1371600"/>
          </a:xfrm>
          <a:prstGeom prst="rect">
            <a:avLst/>
          </a:prstGeom>
          <a:solidFill>
            <a:srgbClr val="0D47A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4754880" y="288036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1e-6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4709160" y="4626864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Early backbone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(stem + L1)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5806440" y="2560320"/>
            <a:ext cx="822960" cy="201168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>
            <a:off x="5806440" y="224028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1e-5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5760720" y="4626864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Mid backbone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(L2 + L3)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6858000" y="1828800"/>
            <a:ext cx="822960" cy="2743200"/>
          </a:xfrm>
          <a:prstGeom prst="rect">
            <a:avLst/>
          </a:prstGeom>
          <a:solidFill>
            <a:srgbClr val="42A5F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6858000" y="150876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1e-4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6812280" y="4626864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Late backbone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(L4)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7909560" y="1097280"/>
            <a:ext cx="822960" cy="3474720"/>
          </a:xfrm>
          <a:prstGeom prst="rect">
            <a:avLst/>
          </a:prstGeom>
          <a:solidFill>
            <a:srgbClr val="FF7043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7909560" y="7772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1e-2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7863840" y="4626864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Head (fc)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E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E77"/>
                </a:solidFill>
                <a:latin typeface="Calibri"/>
                <a:ea typeface="Calibri"/>
                <a:cs typeface="Calibri"/>
                <a:sym typeface="Calibri"/>
              </a:rPr>
              <a:t>9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51C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Domain Shift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4FC3F7">
              <a:alpha val="30196"/>
            </a:srgbClr>
          </a:solidFill>
          <a:ln cap="flat" cmpd="sng" w="12700">
            <a:solidFill>
              <a:srgbClr val="4FC3F7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The data your model meets at deployment differs from the data it was trained 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This is why every technique on the previous slides exists.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365760" y="1828800"/>
            <a:ext cx="2651760" cy="2880360"/>
          </a:xfrm>
          <a:prstGeom prst="rect">
            <a:avLst/>
          </a:prstGeom>
          <a:solidFill>
            <a:srgbClr val="232840"/>
          </a:solidFill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475488" y="192024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Covariate shift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9" name="Google Shape;289;p11"/>
          <p:cNvCxnSpPr/>
          <p:nvPr/>
        </p:nvCxnSpPr>
        <p:spPr>
          <a:xfrm>
            <a:off x="475488" y="2743200"/>
            <a:ext cx="2423100" cy="0"/>
          </a:xfrm>
          <a:prstGeom prst="straightConnector1">
            <a:avLst/>
          </a:prstGeom>
          <a:noFill/>
          <a:ln cap="flat" cmpd="sng" w="9525">
            <a:solidFill>
              <a:srgbClr val="4FC3F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0" name="Google Shape;290;p11"/>
          <p:cNvSpPr/>
          <p:nvPr/>
        </p:nvSpPr>
        <p:spPr>
          <a:xfrm>
            <a:off x="475488" y="283464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Daylight photos → nighttime photos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475488" y="34290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Fine-tuning fixes 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3246120" y="1828800"/>
            <a:ext cx="2651760" cy="2880360"/>
          </a:xfrm>
          <a:prstGeom prst="rect">
            <a:avLst/>
          </a:prstGeom>
          <a:solidFill>
            <a:srgbClr val="232840"/>
          </a:solidFill>
          <a:ln cap="flat" cmpd="sng" w="19050">
            <a:solidFill>
              <a:srgbClr val="FFD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3355848" y="192024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D54F"/>
                </a:solidFill>
                <a:latin typeface="Calibri"/>
                <a:ea typeface="Calibri"/>
                <a:cs typeface="Calibri"/>
                <a:sym typeface="Calibri"/>
              </a:rPr>
              <a:t>Label shift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11"/>
          <p:cNvCxnSpPr/>
          <p:nvPr/>
        </p:nvCxnSpPr>
        <p:spPr>
          <a:xfrm>
            <a:off x="3355848" y="2743200"/>
            <a:ext cx="2423160" cy="0"/>
          </a:xfrm>
          <a:prstGeom prst="straightConnector1">
            <a:avLst/>
          </a:prstGeom>
          <a:noFill/>
          <a:ln cap="flat" cmpd="sng" w="9525">
            <a:solidFill>
              <a:srgbClr val="FFD54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95" name="Google Shape;295;p11"/>
          <p:cNvSpPr/>
          <p:nvPr/>
        </p:nvSpPr>
        <p:spPr>
          <a:xfrm>
            <a:off x="3355848" y="283464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50/50 spam dataset → 5% real spam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3355848" y="34290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FD54F"/>
                </a:solidFill>
                <a:latin typeface="Calibri"/>
                <a:ea typeface="Calibri"/>
                <a:cs typeface="Calibri"/>
                <a:sym typeface="Calibri"/>
              </a:rPr>
              <a:t>Reweighting / threshold adjustment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6126480" y="1828800"/>
            <a:ext cx="2651760" cy="2880360"/>
          </a:xfrm>
          <a:prstGeom prst="rect">
            <a:avLst/>
          </a:prstGeom>
          <a:solidFill>
            <a:srgbClr val="232840"/>
          </a:solidFill>
          <a:ln cap="flat" cmpd="sng" w="1905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1"/>
          <p:cNvSpPr/>
          <p:nvPr/>
        </p:nvSpPr>
        <p:spPr>
          <a:xfrm>
            <a:off x="6236208" y="192024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04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7043"/>
                </a:solidFill>
                <a:latin typeface="Calibri"/>
                <a:ea typeface="Calibri"/>
                <a:cs typeface="Calibri"/>
                <a:sym typeface="Calibri"/>
              </a:rPr>
              <a:t>Concept shift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9" name="Google Shape;299;p11"/>
          <p:cNvCxnSpPr/>
          <p:nvPr/>
        </p:nvCxnSpPr>
        <p:spPr>
          <a:xfrm>
            <a:off x="6236208" y="2743200"/>
            <a:ext cx="2423160" cy="0"/>
          </a:xfrm>
          <a:prstGeom prst="straightConnector1">
            <a:avLst/>
          </a:prstGeom>
          <a:noFill/>
          <a:ln cap="flat" cmpd="sng" w="9525">
            <a:solidFill>
              <a:srgbClr val="FF7043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00" name="Google Shape;300;p11"/>
          <p:cNvSpPr/>
          <p:nvPr/>
        </p:nvSpPr>
        <p:spPr>
          <a:xfrm>
            <a:off x="6236208" y="283464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2010 spam patterns → 2024 phishing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6236208" y="34290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043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F7043"/>
                </a:solidFill>
                <a:latin typeface="Calibri"/>
                <a:ea typeface="Calibri"/>
                <a:cs typeface="Calibri"/>
                <a:sym typeface="Calibri"/>
              </a:rPr>
              <a:t>Hardest — usually needs new labels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E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E77"/>
                </a:solidFill>
                <a:latin typeface="Calibri"/>
                <a:ea typeface="Calibri"/>
                <a:cs typeface="Calibri"/>
                <a:sym typeface="Calibri"/>
              </a:rPr>
              <a:t>11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51C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2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When Each Technique Wins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4FC3F7">
              <a:alpha val="30196"/>
            </a:srgbClr>
          </a:solidFill>
          <a:ln cap="flat" cmpd="sng" w="12700">
            <a:solidFill>
              <a:srgbClr val="4FC3F7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365760" y="1005840"/>
            <a:ext cx="2651760" cy="3749040"/>
          </a:xfrm>
          <a:prstGeom prst="rect">
            <a:avLst/>
          </a:prstGeom>
          <a:solidFill>
            <a:srgbClr val="232840"/>
          </a:solidFill>
          <a:ln cap="flat" cmpd="sng" w="1905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457200" y="109728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BB6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6BB6A"/>
                </a:solidFill>
                <a:latin typeface="Calibri"/>
                <a:ea typeface="Calibri"/>
                <a:cs typeface="Calibri"/>
                <a:sym typeface="Calibri"/>
              </a:rPr>
              <a:t>Industrial defect detection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457200" y="15087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Few hundred labelled examples per class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3" name="Google Shape;313;p12"/>
          <p:cNvCxnSpPr/>
          <p:nvPr/>
        </p:nvCxnSpPr>
        <p:spPr>
          <a:xfrm>
            <a:off x="457200" y="1874520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66BB6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14" name="Google Shape;314;p12"/>
          <p:cNvSpPr/>
          <p:nvPr/>
        </p:nvSpPr>
        <p:spPr>
          <a:xfrm>
            <a:off x="457200" y="193852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Defects are visually distinct. Domain similar to ImageNet.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457200" y="25146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BB6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6BB6A"/>
                </a:solidFill>
                <a:latin typeface="Calibri"/>
                <a:ea typeface="Calibri"/>
                <a:cs typeface="Calibri"/>
                <a:sym typeface="Calibri"/>
              </a:rPr>
              <a:t>Frozen feature extraction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457200" y="28529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Linear probe on cached features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457200" y="32004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Upper-left cell of the matrix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8" name="Google Shape;318;p12"/>
          <p:cNvCxnSpPr/>
          <p:nvPr/>
        </p:nvCxnSpPr>
        <p:spPr>
          <a:xfrm>
            <a:off x="457200" y="3584448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8892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12"/>
          <p:cNvSpPr/>
          <p:nvPr/>
        </p:nvSpPr>
        <p:spPr>
          <a:xfrm>
            <a:off x="457200" y="3639312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E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E77"/>
                </a:solidFill>
                <a:latin typeface="Calibri"/>
                <a:ea typeface="Calibri"/>
                <a:cs typeface="Calibri"/>
                <a:sym typeface="Calibri"/>
              </a:rPr>
              <a:t>Trains in seconds · zero overfitting risk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3246120" y="1005840"/>
            <a:ext cx="2651760" cy="3749040"/>
          </a:xfrm>
          <a:prstGeom prst="rect">
            <a:avLst/>
          </a:prstGeom>
          <a:solidFill>
            <a:srgbClr val="232840"/>
          </a:solidFill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2"/>
          <p:cNvSpPr/>
          <p:nvPr/>
        </p:nvSpPr>
        <p:spPr>
          <a:xfrm>
            <a:off x="3337560" y="109728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CheXNet — chest X-rays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3337560" y="15087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100,000+ labelled X-rays · 14 disease classes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3" name="Google Shape;323;p12"/>
          <p:cNvCxnSpPr/>
          <p:nvPr/>
        </p:nvCxnSpPr>
        <p:spPr>
          <a:xfrm>
            <a:off x="3337560" y="1874520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4FC3F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24" name="Google Shape;324;p12"/>
          <p:cNvSpPr/>
          <p:nvPr/>
        </p:nvSpPr>
        <p:spPr>
          <a:xfrm>
            <a:off x="3337560" y="193852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Domain different (grayscale medical), but large data.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3337560" y="25146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Full fine-tuning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3337560" y="28529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DenseNet121 at low learning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3337560" y="32004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Lower-right cell of the matrix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p12"/>
          <p:cNvCxnSpPr/>
          <p:nvPr/>
        </p:nvCxnSpPr>
        <p:spPr>
          <a:xfrm>
            <a:off x="3337560" y="3584448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8892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" name="Google Shape;329;p12"/>
          <p:cNvSpPr/>
          <p:nvPr/>
        </p:nvSpPr>
        <p:spPr>
          <a:xfrm>
            <a:off x="3337560" y="3639312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E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E77"/>
                </a:solidFill>
                <a:latin typeface="Calibri"/>
                <a:ea typeface="Calibri"/>
                <a:cs typeface="Calibri"/>
                <a:sym typeface="Calibri"/>
              </a:rPr>
              <a:t>Reached radiologist-level on pneumonia  (Rajpurkar 2017)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6126480" y="1005840"/>
            <a:ext cx="2651760" cy="3749040"/>
          </a:xfrm>
          <a:prstGeom prst="rect">
            <a:avLst/>
          </a:prstGeom>
          <a:solidFill>
            <a:srgbClr val="232840"/>
          </a:solidFill>
          <a:ln cap="flat" cmpd="sng" w="1905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6217920" y="109728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04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7043"/>
                </a:solidFill>
                <a:latin typeface="Calibri"/>
                <a:ea typeface="Calibri"/>
                <a:cs typeface="Calibri"/>
                <a:sym typeface="Calibri"/>
              </a:rPr>
              <a:t>Satellite imagery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6217920" y="15087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Land-use segmentation · huge datasets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3" name="Google Shape;333;p12"/>
          <p:cNvCxnSpPr/>
          <p:nvPr/>
        </p:nvCxnSpPr>
        <p:spPr>
          <a:xfrm>
            <a:off x="6217920" y="1874520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FF7043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34" name="Google Shape;334;p12"/>
          <p:cNvSpPr/>
          <p:nvPr/>
        </p:nvSpPr>
        <p:spPr>
          <a:xfrm>
            <a:off x="6217920" y="1938528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Top-down aerial view, often non-RGB. Very large target set.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6217920" y="25146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04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7043"/>
                </a:solidFill>
                <a:latin typeface="Calibri"/>
                <a:ea typeface="Calibri"/>
                <a:cs typeface="Calibri"/>
                <a:sym typeface="Calibri"/>
              </a:rPr>
              <a:t>Train from scratch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6217920" y="285292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Or aggressive full fine-tune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6217920" y="32004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Lower-right cell — pretraining helps only convergence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" name="Google Shape;338;p12"/>
          <p:cNvCxnSpPr/>
          <p:nvPr/>
        </p:nvCxnSpPr>
        <p:spPr>
          <a:xfrm>
            <a:off x="6217920" y="3584448"/>
            <a:ext cx="2468880" cy="0"/>
          </a:xfrm>
          <a:prstGeom prst="straightConnector1">
            <a:avLst/>
          </a:prstGeom>
          <a:noFill/>
          <a:ln cap="flat" cmpd="sng" w="9525">
            <a:solidFill>
              <a:srgbClr val="8892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12"/>
          <p:cNvSpPr/>
          <p:nvPr/>
        </p:nvSpPr>
        <p:spPr>
          <a:xfrm>
            <a:off x="6217920" y="3639312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E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E77"/>
                </a:solidFill>
                <a:latin typeface="Calibri"/>
                <a:ea typeface="Calibri"/>
                <a:cs typeface="Calibri"/>
                <a:sym typeface="Calibri"/>
              </a:rPr>
              <a:t>He et al. (2019) Rethinking ImageNet Pre-training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E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E77"/>
                </a:solidFill>
                <a:latin typeface="Calibri"/>
                <a:ea typeface="Calibri"/>
                <a:cs typeface="Calibri"/>
                <a:sym typeface="Calibri"/>
              </a:rPr>
              <a:t>12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51C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3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Failure Cases &amp; Limitations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4FC3F7">
              <a:alpha val="30196"/>
            </a:srgbClr>
          </a:solidFill>
          <a:ln cap="flat" cmpd="sng" w="12700">
            <a:solidFill>
              <a:srgbClr val="4FC3F7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2514590" y="1017265"/>
            <a:ext cx="4114800" cy="1600200"/>
          </a:xfrm>
          <a:prstGeom prst="rect">
            <a:avLst/>
          </a:prstGeom>
          <a:solidFill>
            <a:srgbClr val="232840"/>
          </a:solidFill>
          <a:ln cap="flat" cmpd="sng" w="1905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/>
          <p:cNvSpPr/>
          <p:nvPr/>
        </p:nvSpPr>
        <p:spPr>
          <a:xfrm>
            <a:off x="2651750" y="1108705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04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7043"/>
                </a:solidFill>
                <a:latin typeface="Calibri"/>
                <a:ea typeface="Calibri"/>
                <a:cs typeface="Calibri"/>
                <a:sym typeface="Calibri"/>
              </a:rPr>
              <a:t>Catastrophic forgetting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2651750" y="1492753"/>
            <a:ext cx="38406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High LR overwrites pretrained weights before the head stabilises. All pretraining value is lost.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Fix: LR at 1e-4 to 1e-5 — 10–100× lower than from-scratch.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365760" y="2697480"/>
            <a:ext cx="4114800" cy="1600200"/>
          </a:xfrm>
          <a:prstGeom prst="rect">
            <a:avLst/>
          </a:prstGeom>
          <a:solidFill>
            <a:srgbClr val="232840"/>
          </a:solidFill>
          <a:ln cap="flat" cmpd="sng" w="1905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502920" y="27889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04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7043"/>
                </a:solidFill>
                <a:latin typeface="Calibri"/>
                <a:ea typeface="Calibri"/>
                <a:cs typeface="Calibri"/>
                <a:sym typeface="Calibri"/>
              </a:rPr>
              <a:t>ID/OOD accuracy tradeoff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502920" y="3172968"/>
            <a:ext cx="38404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Aggressive fine-tuning improves in-distribution accuracy but degrades OOD by ~7% on average.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Fix: LP-FT — stabilise head first, then unfreeze.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4663440" y="2697480"/>
            <a:ext cx="4114800" cy="1600200"/>
          </a:xfrm>
          <a:prstGeom prst="rect">
            <a:avLst/>
          </a:prstGeom>
          <a:solidFill>
            <a:srgbClr val="232840"/>
          </a:solidFill>
          <a:ln cap="flat" cmpd="sng" w="1905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3"/>
          <p:cNvSpPr/>
          <p:nvPr/>
        </p:nvSpPr>
        <p:spPr>
          <a:xfrm>
            <a:off x="4800600" y="27889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704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7043"/>
                </a:solidFill>
                <a:latin typeface="Calibri"/>
                <a:ea typeface="Calibri"/>
                <a:cs typeface="Calibri"/>
                <a:sym typeface="Calibri"/>
              </a:rPr>
              <a:t>Pretraining doesn't always help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4800600" y="3172968"/>
            <a:ext cx="38404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With a very large target dataset and very different domain, pretraining only speeds early convergence.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Fix: Train from scratch (He et al., 2019).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E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E77"/>
                </a:solidFill>
                <a:latin typeface="Calibri"/>
                <a:ea typeface="Calibri"/>
                <a:cs typeface="Calibri"/>
                <a:sym typeface="Calibri"/>
              </a:rPr>
              <a:t>13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51C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4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When Not to Fine-Tune  ·  Alternatives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4FC3F7">
              <a:alpha val="30196"/>
            </a:srgbClr>
          </a:solidFill>
          <a:ln cap="flat" cmpd="sng" w="12700">
            <a:solidFill>
              <a:srgbClr val="4FC3F7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4"/>
          <p:cNvSpPr/>
          <p:nvPr/>
        </p:nvSpPr>
        <p:spPr>
          <a:xfrm>
            <a:off x="365760" y="1005840"/>
            <a:ext cx="3931920" cy="3794760"/>
          </a:xfrm>
          <a:prstGeom prst="rect">
            <a:avLst/>
          </a:prstGeom>
          <a:solidFill>
            <a:srgbClr val="232840"/>
          </a:solidFill>
          <a:ln cap="flat" cmpd="sng" w="19050">
            <a:solidFill>
              <a:srgbClr val="FFD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4"/>
          <p:cNvSpPr/>
          <p:nvPr/>
        </p:nvSpPr>
        <p:spPr>
          <a:xfrm>
            <a:off x="502920" y="1097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54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D54F"/>
                </a:solidFill>
                <a:latin typeface="Calibri"/>
                <a:ea typeface="Calibri"/>
                <a:cs typeface="Calibri"/>
                <a:sym typeface="Calibri"/>
              </a:rPr>
              <a:t>Skip fine-tuning when…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502920" y="1536192"/>
            <a:ext cx="3657600" cy="315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Frozen probe already meets your accuracy target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Target dataset is huge and very different from source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Robustness to OOD matters more than peak ID accuracy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You have only unlabelled target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Compute or storage is severely constrained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4846320" y="1005840"/>
            <a:ext cx="3931920" cy="3794760"/>
          </a:xfrm>
          <a:prstGeom prst="rect">
            <a:avLst/>
          </a:prstGeom>
          <a:solidFill>
            <a:srgbClr val="232840"/>
          </a:solidFill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4"/>
          <p:cNvSpPr/>
          <p:nvPr/>
        </p:nvSpPr>
        <p:spPr>
          <a:xfrm>
            <a:off x="4983480" y="1097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Alternatives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4983480" y="1536192"/>
            <a:ext cx="3657600" cy="315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Domain adaptation (DANN, MMD) — no target labels needed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Foundation models / self-supervised (CLIP, DINO, MAE)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Parameter-efficient methods (LoRA, adapters — ~1% of params)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Few-shot / zero-shot prompting for tiny datasets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Train from scratch — large data, very different domain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E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E77"/>
                </a:solidFill>
                <a:latin typeface="Calibri"/>
                <a:ea typeface="Calibri"/>
                <a:cs typeface="Calibri"/>
                <a:sym typeface="Calibri"/>
              </a:rPr>
              <a:t>14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51C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5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Quick Decision Recap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4FC3F7">
              <a:alpha val="30196"/>
            </a:srgbClr>
          </a:solidFill>
          <a:ln cap="flat" cmpd="sng" w="12700">
            <a:solidFill>
              <a:srgbClr val="4FC3F7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3474720" y="1051560"/>
            <a:ext cx="2194560" cy="502920"/>
          </a:xfrm>
          <a:prstGeom prst="rect">
            <a:avLst/>
          </a:prstGeom>
          <a:solidFill>
            <a:srgbClr val="232840"/>
          </a:solidFill>
          <a:ln cap="flat" cmpd="sng" w="254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5"/>
          <p:cNvSpPr/>
          <p:nvPr/>
        </p:nvSpPr>
        <p:spPr>
          <a:xfrm>
            <a:off x="3474720" y="1124712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New task?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274320" y="1828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small + similar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274320" y="2148840"/>
            <a:ext cx="2651760" cy="777240"/>
          </a:xfrm>
          <a:prstGeom prst="rect">
            <a:avLst/>
          </a:prstGeom>
          <a:solidFill>
            <a:srgbClr val="232840"/>
          </a:solidFill>
          <a:ln cap="flat" cmpd="sng" w="2540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274320" y="2212848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BB6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6BB6A"/>
                </a:solidFill>
                <a:latin typeface="Calibri"/>
                <a:ea typeface="Calibri"/>
                <a:cs typeface="Calibri"/>
                <a:sym typeface="Calibri"/>
              </a:rPr>
              <a:t>Frozen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6BB6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6BB6A"/>
                </a:solidFill>
                <a:latin typeface="Calibri"/>
                <a:ea typeface="Calibri"/>
                <a:cs typeface="Calibri"/>
                <a:sym typeface="Calibri"/>
              </a:rPr>
              <a:t>extraction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3200400" y="1828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medium · any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3200400" y="2148840"/>
            <a:ext cx="2651760" cy="777240"/>
          </a:xfrm>
          <a:prstGeom prst="rect">
            <a:avLst/>
          </a:prstGeom>
          <a:solidFill>
            <a:srgbClr val="232840"/>
          </a:solidFill>
          <a:ln cap="flat" cmpd="sng" w="254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5"/>
          <p:cNvSpPr/>
          <p:nvPr/>
        </p:nvSpPr>
        <p:spPr>
          <a:xfrm>
            <a:off x="3200400" y="2212848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LP-FT +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discriminative LRs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6217920" y="18288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large + different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6217920" y="2148840"/>
            <a:ext cx="2651760" cy="777240"/>
          </a:xfrm>
          <a:prstGeom prst="rect">
            <a:avLst/>
          </a:prstGeom>
          <a:solidFill>
            <a:srgbClr val="232840"/>
          </a:solidFill>
          <a:ln cap="flat" cmpd="sng" w="25400">
            <a:solidFill>
              <a:srgbClr val="FF7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6217920" y="2212848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04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7043"/>
                </a:solidFill>
                <a:latin typeface="Calibri"/>
                <a:ea typeface="Calibri"/>
                <a:cs typeface="Calibri"/>
                <a:sym typeface="Calibri"/>
              </a:rPr>
              <a:t>Train from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704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7043"/>
                </a:solidFill>
                <a:latin typeface="Calibri"/>
                <a:ea typeface="Calibri"/>
                <a:cs typeface="Calibri"/>
                <a:sym typeface="Calibri"/>
              </a:rPr>
              <a:t>scratch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5"/>
          <p:cNvSpPr/>
          <p:nvPr/>
        </p:nvSpPr>
        <p:spPr>
          <a:xfrm>
            <a:off x="365760" y="3154680"/>
            <a:ext cx="8412480" cy="1691640"/>
          </a:xfrm>
          <a:prstGeom prst="rect">
            <a:avLst/>
          </a:prstGeom>
          <a:solidFill>
            <a:srgbClr val="232840"/>
          </a:solidFill>
          <a:ln cap="flat" cmpd="sng" w="19050">
            <a:solidFill>
              <a:srgbClr val="8892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5"/>
          <p:cNvSpPr/>
          <p:nvPr/>
        </p:nvSpPr>
        <p:spPr>
          <a:xfrm>
            <a:off x="548640" y="3218688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892AA"/>
                </a:solidFill>
                <a:latin typeface="Calibri"/>
                <a:ea typeface="Calibri"/>
                <a:cs typeface="Calibri"/>
                <a:sym typeface="Calibri"/>
              </a:rPr>
              <a:t>Universal practices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548640" y="3611880"/>
            <a:ext cx="8138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Fine-tune at 10–100× lower LR than from-scratch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Cache features when backbone is frozen  ·  </a:t>
            </a:r>
            <a:endParaRPr b="0" i="0" sz="1200" u="none" cap="none" strike="noStrike">
              <a:solidFill>
                <a:srgbClr val="D8DC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Discriminative LRs: head fastest, early backbone slowest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Validate on OOD-like data before deployment </a:t>
            </a:r>
            <a:endParaRPr b="0" i="0" sz="1200" u="none" cap="none" strike="noStrike">
              <a:solidFill>
                <a:srgbClr val="D8DCE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When in doubt: start with the frozen probe baseline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E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E77"/>
                </a:solidFill>
                <a:latin typeface="Calibri"/>
                <a:ea typeface="Calibri"/>
                <a:cs typeface="Calibri"/>
                <a:sym typeface="Calibri"/>
              </a:rPr>
              <a:t>15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51C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6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Key References &amp; Takeaways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457200" y="822960"/>
            <a:ext cx="8229600" cy="22860"/>
          </a:xfrm>
          <a:prstGeom prst="rect">
            <a:avLst/>
          </a:prstGeom>
          <a:solidFill>
            <a:srgbClr val="4FC3F7">
              <a:alpha val="30196"/>
            </a:srgbClr>
          </a:solidFill>
          <a:ln cap="flat" cmpd="sng" w="12700">
            <a:solidFill>
              <a:srgbClr val="4FC3F7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6"/>
          <p:cNvSpPr/>
          <p:nvPr/>
        </p:nvSpPr>
        <p:spPr>
          <a:xfrm>
            <a:off x="365760" y="1005840"/>
            <a:ext cx="3931920" cy="2743200"/>
          </a:xfrm>
          <a:prstGeom prst="rect">
            <a:avLst/>
          </a:prstGeom>
          <a:solidFill>
            <a:srgbClr val="232840"/>
          </a:solidFill>
          <a:ln cap="flat" cmpd="sng" w="1905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6"/>
          <p:cNvSpPr/>
          <p:nvPr/>
        </p:nvSpPr>
        <p:spPr>
          <a:xfrm>
            <a:off x="502920" y="109728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Core papers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502920" y="1508760"/>
            <a:ext cx="36576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Yosinski et al. (2014) — How transferable are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Howard &amp; Ruder (2018) — ULMFiT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Kornblith et al. (2019) — Do better ImageNet models transfer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He et al. (2019) — Rethinking ImageNet pre-training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Kumar et al. (2022) — Fine-tuning can distort features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4846320" y="1005840"/>
            <a:ext cx="3931920" cy="2743200"/>
          </a:xfrm>
          <a:prstGeom prst="rect">
            <a:avLst/>
          </a:prstGeom>
          <a:solidFill>
            <a:srgbClr val="232840"/>
          </a:solidFill>
          <a:ln cap="flat" cmpd="sng" w="1905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6"/>
          <p:cNvSpPr/>
          <p:nvPr/>
        </p:nvSpPr>
        <p:spPr>
          <a:xfrm>
            <a:off x="4983480" y="109728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BB6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66BB6A"/>
                </a:solidFill>
                <a:latin typeface="Calibri"/>
                <a:ea typeface="Calibri"/>
                <a:cs typeface="Calibri"/>
                <a:sym typeface="Calibri"/>
              </a:rPr>
              <a:t>Three things to remember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4983480" y="1536192"/>
            <a:ext cx="365760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1.  Layers learn general → specific features. Early layers transfer broadly; late layers don't.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2.  Match technique to dataset size × domain similarity. The 2×2 matrix decides almost everything.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C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8DCE8"/>
                </a:solidFill>
                <a:latin typeface="Calibri"/>
                <a:ea typeface="Calibri"/>
                <a:cs typeface="Calibri"/>
                <a:sym typeface="Calibri"/>
              </a:rPr>
              <a:t>3.  Fine-tune gently. Catastrophic forgetting is real. Use LP-FT and discriminative LRs as defaults.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365760" y="3931920"/>
            <a:ext cx="8412480" cy="777240"/>
          </a:xfrm>
          <a:prstGeom prst="rect">
            <a:avLst/>
          </a:prstGeom>
          <a:solidFill>
            <a:srgbClr val="232840"/>
          </a:solidFill>
          <a:ln cap="flat" cmpd="sng" w="19050">
            <a:solidFill>
              <a:srgbClr val="8892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6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“If you want to master something, teach it.”  —  Richard Feynman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E7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E77"/>
                </a:solidFill>
                <a:latin typeface="Calibri"/>
                <a:ea typeface="Calibri"/>
                <a:cs typeface="Calibri"/>
                <a:sym typeface="Calibri"/>
              </a:rPr>
              <a:t>16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2026-05-10T19:42:02Z</dcterms:created>
  <dc:creator>Clauds</dc:creator>
</cp:coreProperties>
</file>